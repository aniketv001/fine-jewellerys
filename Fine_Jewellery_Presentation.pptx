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097280"/>
            <a:ext cx="8531352" cy="4663440"/>
          </a:xfrm>
          <a:prstGeom prst="rect">
            <a:avLst/>
          </a:prstGeom>
          <a:solidFill>
            <a:srgbClr val="1A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731520"/>
            <a:ext cx="2130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AFAFA"/>
                </a:solidFill>
                <a:latin typeface="Calibri"/>
              </a:rPr>
              <a:t>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E8C97A"/>
                </a:solidFill>
                <a:latin typeface="Georgia"/>
              </a:rPr>
              <a:t>Fine Jewellery's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  <a:latin typeface="Calibri"/>
              </a:rPr>
              <a:t>E-COMMERCE PLATFORM  —  PROJECT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0" y="3383280"/>
            <a:ext cx="100584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74903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  <a:latin typeface="Georgia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251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74903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  <a:latin typeface="Georgia"/>
              </a:rPr>
              <a:t>7+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251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74903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  <a:latin typeface="Georgia"/>
              </a:rPr>
              <a:t>Full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251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74903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  <a:latin typeface="Georgia"/>
              </a:rPr>
              <a:t>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251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  <a:latin typeface="Calibri"/>
              </a:rPr>
              <a:t>Presented by  Aniket   ·   Fine Jewellery's E-Commerce Project   ·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02  — 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AFAFA"/>
                </a:solidFill>
                <a:latin typeface="Georgia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7315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Fine Jewellery's is a full-stack luxury e-commerce platform built to showcase and sell premium handcrafted jewellery. The platform offers a seamless shopping experience with a modern, elegant UI inspired by high-end jewellery brands.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✦  Complete e-commerce flow from browsing to checkout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6440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✦  User authentication with JWT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4845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✦  Persistent wishlist synced to MongoDB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3250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✦  Shopping cart with quantity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1655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✦  Responsive design for all screen sizes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✦  BIS Hallmarked jewellery catalogue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737360"/>
            <a:ext cx="5029200" cy="100584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83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PROJECT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Calibri"/>
              </a:rPr>
              <a:t>Full-Stack Web Application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926080"/>
            <a:ext cx="5029200" cy="100584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302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Calibri"/>
              </a:rPr>
              <a:t>Luxury E-Commerce / Jewellery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4114800"/>
            <a:ext cx="5029200" cy="100584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216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TARGET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Calibri"/>
              </a:rPr>
              <a:t>Jewellery shoppers across India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5303520"/>
            <a:ext cx="5029200" cy="100584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5405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Calibri"/>
              </a:rPr>
              <a:t>Local Dev · Cloud-ready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03  — 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AFAFA"/>
                </a:solidFill>
                <a:latin typeface="Georgia"/>
              </a:rP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7315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3657600" cy="128016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97A"/>
                </a:solidFill>
                <a:latin typeface="Calibri"/>
              </a:rPr>
              <a:t>⚛️ React 18 + TypeScript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Component-based UI with full type safety and modern hooks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828800"/>
            <a:ext cx="3657600" cy="128016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9202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97A"/>
                </a:solidFill>
                <a:latin typeface="Calibri"/>
              </a:rPr>
              <a:t>⚡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331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Lightning-fast build tool and dev server with HMR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66175" y="1828800"/>
            <a:ext cx="3657600" cy="128016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3335" y="19202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97A"/>
                </a:solidFill>
                <a:latin typeface="Calibri"/>
              </a:rPr>
              <a:t>🎨 Tailwind 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3335" y="2331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Utility-first CSS framework for rapid, consistent styling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3657600" cy="128016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83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97A"/>
                </a:solidFill>
                <a:latin typeface="Calibri"/>
              </a:rPr>
              <a:t>🟢 Node.js + Express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947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RESTful API backend with middleware-based 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61688" y="3291840"/>
            <a:ext cx="3657600" cy="128016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3383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97A"/>
                </a:solidFill>
                <a:latin typeface="Calibri"/>
              </a:rPr>
              <a:t>🍃 MongoDB + Mongoose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37947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NoSQL database with schema validation and Atlas cloud hosting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66175" y="3291840"/>
            <a:ext cx="3657600" cy="128016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3335" y="3383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97A"/>
                </a:solidFill>
                <a:latin typeface="Calibri"/>
              </a:rPr>
              <a:t>🔐 JWT Authentication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3335" y="37947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Stateless auth with bcrypt password hashing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3657600" cy="128016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846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97A"/>
                </a:solidFill>
                <a:latin typeface="Calibri"/>
              </a:rPr>
              <a:t>🔀 React Router v6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2578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Client-side routing with protected routes and navigation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61688" y="4754880"/>
            <a:ext cx="3657600" cy="128016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8848" y="4846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97A"/>
                </a:solidFill>
                <a:latin typeface="Calibri"/>
              </a:rPr>
              <a:t>🧩 Radix UI + shadcn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52578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Accessible component primitives with custom theming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66175" y="4754880"/>
            <a:ext cx="3657600" cy="128016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3335" y="4846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97A"/>
                </a:solidFill>
                <a:latin typeface="Calibri"/>
              </a:rPr>
              <a:t>🔔 Sonner Toasts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3335" y="52578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Beautiful animated toast notifications for user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04  —  HOMEPAGE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Georgia"/>
              </a:rPr>
              <a:t>Homepage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7315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Auto-rotating hero carousel with 3 banners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7860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Top announcement bar with offers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36976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Smart search bar with placeholder hints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95344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Category navigation: Gold, Silver, Men, Women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5371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Wishlist &amp; Cart count badges in header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79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Delivery pincode selector</a:t>
            </a:r>
          </a:p>
        </p:txBody>
      </p:sp>
      <p:pic>
        <p:nvPicPr>
          <p:cNvPr id="12" name="Picture 11" descr="slide_homepage_17714459212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91440"/>
            <a:ext cx="6949440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05  —  PRODUCT LISTING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Georgia"/>
              </a:rPr>
              <a:t>Product Listing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7315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Grid layout with hover animations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7860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Filter by category, material, price 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36976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NEW &amp; BESTSELLER badges on cards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95344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Quick 'Add to Cart' on hover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5371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Heart icon for instant wishlist toggle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79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Star ratings and review counts</a:t>
            </a:r>
          </a:p>
        </p:txBody>
      </p:sp>
      <p:pic>
        <p:nvPicPr>
          <p:cNvPr id="12" name="Picture 11" descr="slide_products_17714459328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91440"/>
            <a:ext cx="6949440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06  —  PRODUCT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Georgia"/>
              </a:rPr>
              <a:t>Product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7315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High-res product image gallery (4 views)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7860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Breadcrumb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36976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Quantity selector with +/-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95344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Add to Cart &amp; Wishlist buttons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5371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Buy Now → direct checkout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79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Related products section</a:t>
            </a:r>
          </a:p>
        </p:txBody>
      </p:sp>
      <p:pic>
        <p:nvPicPr>
          <p:cNvPr id="12" name="Picture 11" descr="slide_product_detail_retry_17714459602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91440"/>
            <a:ext cx="6949440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07  —  SHOPPING CART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Georgia"/>
              </a:rPr>
              <a:t>Shopping Cart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7315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Persistent cart saved in localStorage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7860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Quantity update with +/-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36976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Remove individual items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95344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Real-time price calculation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5371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Order summary with subtotal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79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Proceed to Checkout CTA</a:t>
            </a:r>
          </a:p>
        </p:txBody>
      </p:sp>
      <p:pic>
        <p:nvPicPr>
          <p:cNvPr id="12" name="Picture 11" descr="slide_cart_17714459716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91440"/>
            <a:ext cx="6949440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08  —  WISHLIST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Georgia"/>
              </a:rPr>
              <a:t>Wishlist Feature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7315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Synced to MongoDB when logged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7860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localStorage fallback when not logged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36976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Optimistic UI — instant heart toggle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95344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Move to Cart with one click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5371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Wishlist count badge in header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79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Persists across sessions</a:t>
            </a:r>
          </a:p>
        </p:txBody>
      </p:sp>
      <p:pic>
        <p:nvPicPr>
          <p:cNvPr id="12" name="Picture 11" descr="slide_wishlist_17714459817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91440"/>
            <a:ext cx="6949440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09  —  LOGIN &amp; SIGN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Georgia"/>
              </a:rPr>
              <a:t>Login &amp; Sign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7315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JWT-based stateless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7860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bcrypt password hashing (12 rounds)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36976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Token stored in localStorage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95344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Auto-login on page refresh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5371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Form validation with error messages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79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Protected routes for authenticated users</a:t>
            </a:r>
          </a:p>
        </p:txBody>
      </p:sp>
      <p:pic>
        <p:nvPicPr>
          <p:cNvPr id="12" name="Picture 11" descr="slide_auth_17714459912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91440"/>
            <a:ext cx="6949440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10  —  CHECKOUT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Georgia"/>
              </a:rPr>
              <a:t>Checkout 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7315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Shipping address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7860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Order summary with item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36976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Price breakdown (subtotal, shipping, total)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95344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Payment method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5371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Free shipping on all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79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◆  Order confirmation flow</a:t>
            </a:r>
          </a:p>
        </p:txBody>
      </p:sp>
      <p:pic>
        <p:nvPicPr>
          <p:cNvPr id="12" name="Picture 11" descr="slide_checkout_17714460007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91440"/>
            <a:ext cx="6949440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11  —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AFAFA"/>
                </a:solidFill>
                <a:latin typeface="Georgia"/>
              </a:rPr>
              <a:t>Backend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7315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3657600" cy="365760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C97A"/>
                </a:solidFill>
                <a:latin typeface="Calibri"/>
              </a:rPr>
              <a:t>🖥️  Frontend (React)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▸  React 18 + TypeScript + Vite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529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▸  AuthContext — JWT token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826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▸  CartContext — cart &amp; wishlist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12463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▸  React Router v6 — client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42231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▸  Tailwind CSS + Radix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▸  Sonner toast 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017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▸  localStorage for cart persistence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0175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A84C"/>
                </a:solidFill>
                <a:latin typeface="Calibri"/>
              </a:rPr>
              <a:t>REST API
──────────
HTTP / JSON
Bearer Token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1828800"/>
            <a:ext cx="3657600" cy="365760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1920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C97A"/>
                </a:solidFill>
                <a:latin typeface="Calibri"/>
              </a:rPr>
              <a:t>⚙️  Backend (Node.js)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423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▸  Express.js REST API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8529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▸  JWT middleware — route protection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32826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▸  bcryptjs — password hashing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712463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▸  Mongoose ODM — MongoDB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142231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▸  CORS configured for port 8080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572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▸  Routes: /auth, /wishlist, /orders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50017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BBBB"/>
                </a:solidFill>
                <a:latin typeface="Calibri"/>
              </a:rPr>
              <a:t>▸  MongoDB Atlas — cloud database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669280"/>
            <a:ext cx="11430000" cy="82296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715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Frontend 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6035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AFA"/>
                </a:solidFill>
                <a:latin typeface="Calibri"/>
              </a:rPr>
              <a:t>:8080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715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Backend 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6035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AFA"/>
                </a:solidFill>
                <a:latin typeface="Calibri"/>
              </a:rPr>
              <a:t>:5000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715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6035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AFA"/>
                </a:solidFill>
                <a:latin typeface="Calibri"/>
              </a:rPr>
              <a:t>MongoDB Atlas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5715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Auth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60350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AFA"/>
                </a:solidFill>
                <a:latin typeface="Calibri"/>
              </a:rPr>
              <a:t>JWT + bcrypt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12  — 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AFAFA"/>
                </a:solidFill>
                <a:latin typeface="Georgia"/>
              </a:rPr>
              <a:t>MongoDB Schema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7315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365760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Calibri"/>
              </a:rPr>
              <a:t>👤 User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3657600" cy="411480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ObjectId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072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8072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String 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369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2369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String * unique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6674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phone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6667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String 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965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password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0965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String * hashed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262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5262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user |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isActive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9560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Boolean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858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createdAt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538581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Date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828800"/>
            <a:ext cx="365760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187451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Calibri"/>
              </a:rPr>
              <a:t>❤️ Wishlist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2286000"/>
            <a:ext cx="3657600" cy="411480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ObjectId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28072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user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8072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→ User ref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2369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items[]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2369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Array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366674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  productId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6667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String 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0965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  name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0965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String *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5262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  image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5262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String 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49560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  price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9560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Number *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53858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  material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38581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String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1828800"/>
            <a:ext cx="365760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187451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Calibri"/>
              </a:rPr>
              <a:t>📦 Order Model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2286000"/>
            <a:ext cx="3657600" cy="411480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60" y="2377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_id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2377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ObjectId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28072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user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28072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→ User ref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323697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items[]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0" y="32369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Array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366674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  productId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24160" y="36667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String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40965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  quantity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60" y="40965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Number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45262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totalAmount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45262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Number *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49560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status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24160" y="49560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pending|confirmed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53858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FAFA"/>
                </a:solidFill>
                <a:latin typeface="Calibri"/>
              </a:rPr>
              <a:t>shippingAddress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4160" y="538581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9A84C"/>
                </a:solidFill>
                <a:latin typeface="Calibri"/>
              </a:rPr>
              <a:t>Object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13  — 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AFAFA"/>
                </a:solidFill>
                <a:latin typeface="Georgia"/>
              </a:rPr>
              <a:t>Key Features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7315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2743200" cy="192024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AFAFA"/>
                </a:solidFill>
                <a:latin typeface="Calibri"/>
              </a:rP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C97A"/>
                </a:solidFill>
                <a:latin typeface="Calibri"/>
              </a:rPr>
              <a:t>Secure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JWT tokens, bcrypt hashing, protected routes, auto-login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828800"/>
            <a:ext cx="2743200" cy="192024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920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AFAFA"/>
                </a:solidFill>
                <a:latin typeface="Calibri"/>
              </a:rPr>
              <a:t>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C97A"/>
                </a:solidFill>
                <a:latin typeface="Calibri"/>
              </a:rPr>
              <a:t>Smart Cart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83464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Persistent localStorage cart with quantity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743200" cy="192024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AFAFA"/>
                </a:solidFill>
                <a:latin typeface="Calibri"/>
              </a:rPr>
              <a:t>❤️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C97A"/>
                </a:solidFill>
                <a:latin typeface="Calibri"/>
              </a:rPr>
              <a:t>Wishlist 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83464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MongoDB-backed wishlist with optimistic UI updates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828800"/>
            <a:ext cx="2743200" cy="192024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920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AFAFA"/>
                </a:solidFill>
                <a:latin typeface="Calibri"/>
              </a:rP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C97A"/>
                </a:solidFill>
                <a:latin typeface="Calibri"/>
              </a:rPr>
              <a:t>Smart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83464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Search across products by name, category, material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23360"/>
            <a:ext cx="2743200" cy="192024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AFAFA"/>
                </a:solidFill>
                <a:latin typeface="Calibri"/>
              </a:rPr>
              <a:t>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C97A"/>
                </a:solidFill>
                <a:latin typeface="Calibri"/>
              </a:rPr>
              <a:t>Responsive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292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Fully responsive design for mobile, tablet, desktop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023360"/>
            <a:ext cx="2743200" cy="192024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4114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AFAFA"/>
                </a:solidFill>
                <a:latin typeface="Calibri"/>
              </a:rPr>
              <a:t>🏷️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C97A"/>
                </a:solidFill>
                <a:latin typeface="Calibri"/>
              </a:rPr>
              <a:t>Filters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0292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Filter by category, material, price range, new arrivals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023360"/>
            <a:ext cx="2743200" cy="192024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114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AFAFA"/>
                </a:solidFill>
                <a:latin typeface="Calibri"/>
              </a:rPr>
              <a:t>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C97A"/>
                </a:solidFill>
                <a:latin typeface="Calibri"/>
              </a:rPr>
              <a:t>Dark Mode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0292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Elegant dark theme with gold accents throughout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4023360"/>
            <a:ext cx="2743200" cy="192024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41148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AFAFA"/>
                </a:solidFill>
                <a:latin typeface="Calibri"/>
              </a:rPr>
              <a:t>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C97A"/>
                </a:solidFill>
                <a:latin typeface="Calibri"/>
              </a:rPr>
              <a:t>Notifications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50292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Animated toast notifications for all user actions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14  — 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AFAFA"/>
                </a:solidFill>
                <a:latin typeface="Georgia"/>
              </a:rPr>
              <a:t>Challenges &amp;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73152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5029200" cy="1280160"/>
          </a:xfrm>
          <a:prstGeom prst="rect">
            <a:avLst/>
          </a:prstGeom>
          <a:solidFill>
            <a:srgbClr val="252525"/>
          </a:solidFill>
          <a:ln w="12700">
            <a:solidFill>
              <a:srgbClr val="EE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019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E5555"/>
                </a:solidFill>
                <a:latin typeface="Calibri"/>
              </a:rPr>
              <a:t>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MongoDB Atlas DNS SRV records couldn't be resolved by local ISP DNS, causing backend connection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577840" cy="1280160"/>
          </a:xfrm>
          <a:prstGeom prst="rect">
            <a:avLst/>
          </a:prstGeom>
          <a:solidFill>
            <a:srgbClr val="252525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019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9456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Replaced mongodb+srv:// URI with direct shard hostnames discovered via Google DNS (8.8.8.8)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37560"/>
            <a:ext cx="5029200" cy="1280160"/>
          </a:xfrm>
          <a:prstGeom prst="rect">
            <a:avLst/>
          </a:prstGeom>
          <a:solidFill>
            <a:srgbClr val="252525"/>
          </a:solidFill>
          <a:ln w="12700">
            <a:solidFill>
              <a:srgbClr val="EE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4107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E5555"/>
                </a:solidFill>
                <a:latin typeface="Calibri"/>
              </a:rP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Wishlist adding silently failed — async API calls were fired without await, so UI state never updated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3794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337560"/>
            <a:ext cx="5577840" cy="1280160"/>
          </a:xfrm>
          <a:prstGeom prst="rect">
            <a:avLst/>
          </a:prstGeom>
          <a:solidFill>
            <a:srgbClr val="252525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4107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7033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Added optimistic UI updates, proper async/await in all handlers, boolean returns, and state revert on failure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46320"/>
            <a:ext cx="5029200" cy="1280160"/>
          </a:xfrm>
          <a:prstGeom prst="rect">
            <a:avLst/>
          </a:prstGeom>
          <a:solidFill>
            <a:srgbClr val="252525"/>
          </a:solidFill>
          <a:ln w="12700">
            <a:solidFill>
              <a:srgbClr val="EE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9194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E5555"/>
                </a:solidFill>
                <a:latin typeface="Calibri"/>
              </a:rPr>
              <a:t>CHALLENGE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120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Rollup native module @rollup/rollup-darwin-arm64 missing due to npm optional dependency bug on Apple Silicon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5303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9A84C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846320"/>
            <a:ext cx="5577840" cy="1280160"/>
          </a:xfrm>
          <a:prstGeom prst="rect">
            <a:avLst/>
          </a:prstGeom>
          <a:solidFill>
            <a:srgbClr val="252525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9194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2120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  <a:latin typeface="Calibri"/>
              </a:rPr>
              <a:t>Deleted node_modules and package-lock.json, then ran a clean npm install to resolve platform-specific binaries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914400"/>
            <a:ext cx="8531352" cy="5029200"/>
          </a:xfrm>
          <a:prstGeom prst="rect">
            <a:avLst/>
          </a:prstGeom>
          <a:solidFill>
            <a:srgbClr val="1A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0" y="731520"/>
            <a:ext cx="2130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AFAFA"/>
                </a:solidFill>
                <a:latin typeface="Calibri"/>
              </a:rPr>
              <a:t>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E8C97A"/>
                </a:solidFill>
                <a:latin typeface="Georg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40" y="3383280"/>
            <a:ext cx="1005840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  <a:latin typeface="Calibri"/>
              </a:rPr>
              <a:t>Fine Jewellery's  —  A Full-Stack Luxury E-Commerce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206240"/>
            <a:ext cx="2286000" cy="137160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AFAFA"/>
                </a:solidFill>
                <a:latin typeface="Calibri"/>
              </a:rP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LIVE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C97A"/>
                </a:solidFill>
                <a:latin typeface="Calibri"/>
              </a:rPr>
              <a:t>localhost:8080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4206240"/>
            <a:ext cx="2286000" cy="137160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AFAFA"/>
                </a:solidFill>
                <a:latin typeface="Calibri"/>
              </a:rP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API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C97A"/>
                </a:solidFill>
                <a:latin typeface="Calibri"/>
              </a:rPr>
              <a:t>localhost:5000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206240"/>
            <a:ext cx="2286000" cy="137160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AFAFA"/>
                </a:solidFill>
                <a:latin typeface="Calibri"/>
              </a:rPr>
              <a:t>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C97A"/>
                </a:solidFill>
                <a:latin typeface="Calibri"/>
              </a:rPr>
              <a:t>MongoDB Atlas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39" y="4206240"/>
            <a:ext cx="2286000" cy="1371600"/>
          </a:xfrm>
          <a:prstGeom prst="rect">
            <a:avLst/>
          </a:prstGeom>
          <a:solidFill>
            <a:srgbClr val="252525"/>
          </a:solidFill>
          <a:ln w="12700">
            <a:solidFill>
              <a:srgbClr val="403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39" y="4251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AFAFA"/>
                </a:solidFill>
                <a:latin typeface="Calibri"/>
              </a:rPr>
              <a:t>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39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Calibri"/>
              </a:rPr>
              <a:t>DEVELOPER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39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C97A"/>
                </a:solidFill>
                <a:latin typeface="Calibri"/>
              </a:rPr>
              <a:t>Aniket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